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77295" cy="594360"/>
          </a:xfrm>
          <a:prstGeom prst="roundRect">
            <a:avLst/>
          </a:prstGeom>
          <a:solidFill>
            <a:srgbClr val="0C1A3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🏛️ CETAM • Centro de Educação Tecnológica do Amazonas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560320" cy="438912"/>
          </a:xfrm>
          <a:prstGeom prst="roundRect">
            <a:avLst/>
          </a:prstGeom>
          <a:solidFill>
            <a:srgbClr val="192841"/>
          </a:solidFill>
          <a:ln w="127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/>
            <a:r>
              <a:rPr sz="1200">
                <a:solidFill>
                  <a:srgbClr val="FFB81C"/>
                </a:solidFill>
              </a:rPr>
              <a:t>Apresentador: </a:t>
            </a:r>
            <a:r>
              <a:rPr sz="1300" b="1">
                <a:solidFill>
                  <a:srgbClr val="FFFFFF"/>
                </a:solidFill>
              </a:rPr>
              <a:t>Equipe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Serviços Corporativos e Segurança no </a:t>
            </a:r>
            <a:r>
              <a:rPr sz="3200" b="1">
                <a:solidFill>
                  <a:srgbClr val="00D062"/>
                </a:solidFill>
              </a:rPr>
              <a:t>Windows Server 2022
</a:t>
            </a:r>
          </a:p>
          <a:p>
            <a:pPr algn="ctr">
              <a:defRPr sz="1600">
                <a:solidFill>
                  <a:srgbClr val="CBD5E1"/>
                </a:solidFill>
              </a:defRPr>
            </a:pPr>
            <a:r>
              <a:t>Implementação de Diretivas de Grupo (GPO), Servidor de Arquivos, Fila de Impressão e Firewall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40480"/>
            <a:ext cx="2103120" cy="2377440"/>
          </a:xfrm>
          <a:prstGeom prst="roundRect">
            <a:avLst/>
          </a:prstGeom>
          <a:solidFill>
            <a:srgbClr val="0C1A3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Elizandra</a:t>
            </a:r>
          </a:p>
          <a:p>
            <a:pPr algn="ctr">
              <a:defRPr sz="1200" b="1">
                <a:solidFill>
                  <a:srgbClr val="FFB81C"/>
                </a:solidFill>
              </a:defRPr>
            </a:pPr>
            <a:r>
              <a:t>Abertura &amp; Apresentação</a:t>
            </a:r>
          </a:p>
          <a:p>
            <a:pPr algn="ctr">
              <a:defRPr sz="1100">
                <a:solidFill>
                  <a:srgbClr val="CBD5E1"/>
                </a:solidFill>
              </a:defRPr>
            </a:pPr>
            <a:r>
              <a:t>Introdução do projeto, alinhamento e coordenação.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3840480"/>
            <a:ext cx="2103120" cy="2377440"/>
          </a:xfrm>
          <a:prstGeom prst="roundRect">
            <a:avLst/>
          </a:prstGeom>
          <a:solidFill>
            <a:srgbClr val="0C1A3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Gilvan</a:t>
            </a:r>
          </a:p>
          <a:p>
            <a:pPr algn="ctr">
              <a:defRPr sz="1200" b="1">
                <a:solidFill>
                  <a:srgbClr val="FFB81C"/>
                </a:solidFill>
              </a:defRPr>
            </a:pPr>
            <a:r>
              <a:t>Diretivas de Grupo (GPO)</a:t>
            </a:r>
          </a:p>
          <a:p>
            <a:pPr algn="ctr">
              <a:defRPr sz="1100">
                <a:solidFill>
                  <a:srgbClr val="CBD5E1"/>
                </a:solidFill>
              </a:defRPr>
            </a:pPr>
            <a:r>
              <a:t>Senhas fortes, bloqueio USB, CMD e exceção TI.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3840480"/>
            <a:ext cx="2103120" cy="2377440"/>
          </a:xfrm>
          <a:prstGeom prst="roundRect">
            <a:avLst/>
          </a:prstGeom>
          <a:solidFill>
            <a:srgbClr val="0C1A3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Mariane</a:t>
            </a:r>
          </a:p>
          <a:p>
            <a:pPr algn="ctr">
              <a:defRPr sz="1200" b="1">
                <a:solidFill>
                  <a:srgbClr val="FFB81C"/>
                </a:solidFill>
              </a:defRPr>
            </a:pPr>
            <a:r>
              <a:t>Servidor de Arquivos</a:t>
            </a:r>
          </a:p>
          <a:p>
            <a:pPr algn="ctr">
              <a:defRPr sz="1100">
                <a:solidFill>
                  <a:srgbClr val="CBD5E1"/>
                </a:solidFill>
              </a:defRPr>
            </a:pPr>
            <a:r>
              <a:t>8 pastas departamentais, NTFS e Acesso Negado.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3840480"/>
            <a:ext cx="2103120" cy="2377440"/>
          </a:xfrm>
          <a:prstGeom prst="roundRect">
            <a:avLst/>
          </a:prstGeom>
          <a:solidFill>
            <a:srgbClr val="0C1A3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Edmar</a:t>
            </a:r>
          </a:p>
          <a:p>
            <a:pPr algn="ctr">
              <a:defRPr sz="1200" b="1">
                <a:solidFill>
                  <a:srgbClr val="FFB81C"/>
                </a:solidFill>
              </a:defRPr>
            </a:pPr>
            <a:r>
              <a:t>Servidor de Impressão</a:t>
            </a:r>
          </a:p>
          <a:p>
            <a:pPr algn="ctr">
              <a:defRPr sz="1100">
                <a:solidFill>
                  <a:srgbClr val="CBD5E1"/>
                </a:solidFill>
              </a:defRPr>
            </a:pPr>
            <a:r>
              <a:t>Fila IMP_Geral (192.168.10.20) e correção RPC.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0" y="3840480"/>
            <a:ext cx="2103120" cy="2377440"/>
          </a:xfrm>
          <a:prstGeom prst="roundRect">
            <a:avLst/>
          </a:prstGeom>
          <a:solidFill>
            <a:srgbClr val="0C1A3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Adler</a:t>
            </a:r>
          </a:p>
          <a:p>
            <a:pPr algn="ctr">
              <a:defRPr sz="1200" b="1">
                <a:solidFill>
                  <a:srgbClr val="FFB81C"/>
                </a:solidFill>
              </a:defRPr>
            </a:pPr>
            <a:r>
              <a:t>Firewall &amp; DNS</a:t>
            </a:r>
          </a:p>
          <a:p>
            <a:pPr algn="ctr">
              <a:defRPr sz="1100">
                <a:solidFill>
                  <a:srgbClr val="CBD5E1"/>
                </a:solidFill>
              </a:defRPr>
            </a:pPr>
            <a:r>
              <a:t>Perfis ativos, liberação SMB/Ping e DNS Reverso.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77295" cy="594360"/>
          </a:xfrm>
          <a:prstGeom prst="roundRect">
            <a:avLst/>
          </a:prstGeom>
          <a:solidFill>
            <a:srgbClr val="0C1A3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🛡️ Gestão de Identidade e Políticas de Grupo (GPO)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560320" cy="438912"/>
          </a:xfrm>
          <a:prstGeom prst="roundRect">
            <a:avLst/>
          </a:prstGeom>
          <a:solidFill>
            <a:srgbClr val="192841"/>
          </a:solidFill>
          <a:ln w="127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/>
            <a:r>
              <a:rPr sz="1200">
                <a:solidFill>
                  <a:srgbClr val="FFB81C"/>
                </a:solidFill>
              </a:rPr>
              <a:t>Apresentador: </a:t>
            </a:r>
            <a:r>
              <a:rPr sz="1300" b="1">
                <a:solidFill>
                  <a:srgbClr val="FFFFFF"/>
                </a:solidFill>
              </a:rPr>
              <a:t>Gilvan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611880" cy="1463040"/>
          </a:xfrm>
          <a:prstGeom prst="roundRect">
            <a:avLst/>
          </a:prstGeom>
          <a:solidFill>
            <a:srgbClr val="0C1A30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👤 1. Precisa ser feito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Exigir senhas fortes de 8 dígitos e bloquear a conta após 5 tentativas incorretas.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78608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BD5E1"/>
                </a:solidFill>
              </a:defRPr>
            </a:pPr>
            <a:r>
              <a:t>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880360"/>
            <a:ext cx="3611880" cy="2011680"/>
          </a:xfrm>
          <a:prstGeom prst="roundRect">
            <a:avLst/>
          </a:prstGeom>
          <a:solidFill>
            <a:srgbClr val="0C1A30"/>
          </a:solidFill>
          <a:ln w="25400">
            <a:solidFill>
              <a:srgbClr val="00D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00D062"/>
                </a:solidFill>
              </a:defRPr>
            </a:pPr>
            <a:r>
              <a:t>⚙️ 2. Como fazer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gpmc.msc ➔ Domain ➔ Default Domain Policy ➔ Edit ➔ Computer Configuration ➔ Policies ➔ Windows Settings ➔ Security Settings ➔ Account Policies (Password &amp; Account Lockout Policy).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10328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BD5E1"/>
                </a:solidFill>
              </a:defRPr>
            </a:pPr>
            <a: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193792"/>
            <a:ext cx="3611880" cy="1280160"/>
          </a:xfrm>
          <a:prstGeom prst="roundRect">
            <a:avLst/>
          </a:prstGeom>
          <a:solidFill>
            <a:srgbClr val="0C1A30"/>
          </a:solidFill>
          <a:ln w="254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300" b="1">
                <a:solidFill>
                  <a:srgbClr val="FFB81C"/>
                </a:solidFill>
              </a:defRPr>
            </a:pPr>
            <a:r>
              <a:t>✉️ 3. Como testar</a:t>
            </a:r>
          </a:p>
          <a:p>
            <a:pPr>
              <a:defRPr sz="1100" b="1">
                <a:solidFill>
                  <a:srgbClr val="38BDF8"/>
                </a:solidFill>
              </a:defRPr>
            </a:pPr>
            <a:r>
              <a:t>CMD/PowerShell: net accounts</a:t>
            </a:r>
          </a:p>
          <a:p>
            <a:pPr>
              <a:defRPr sz="1100">
                <a:solidFill>
                  <a:srgbClr val="00D062"/>
                </a:solidFill>
              </a:defRPr>
            </a:pPr>
            <a:r>
              <a:t>✓ Política auditada e ativa no domínio.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1097280"/>
            <a:ext cx="3611880" cy="1463040"/>
          </a:xfrm>
          <a:prstGeom prst="roundRect">
            <a:avLst/>
          </a:prstGeom>
          <a:solidFill>
            <a:srgbClr val="0C1A30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👤 1. Precisa ser feito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Bloquear pendrives USB e Prompt de Comando (CMD/PowerShell) para evitar vazamento ou execução indevida.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8536" y="2578608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BD5E1"/>
                </a:solidFill>
              </a:defRPr>
            </a:pPr>
            <a: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2880360"/>
            <a:ext cx="3611880" cy="2011680"/>
          </a:xfrm>
          <a:prstGeom prst="roundRect">
            <a:avLst/>
          </a:prstGeom>
          <a:solidFill>
            <a:srgbClr val="0C1A30"/>
          </a:solidFill>
          <a:ln w="25400">
            <a:solidFill>
              <a:srgbClr val="00D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00D062"/>
                </a:solidFill>
              </a:defRPr>
            </a:pPr>
            <a:r>
              <a:t>⚙️ 2. Como fazer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gpmc.msc ➔ GPO_Seguranca_e_Padronizacao ➔ Edit:</a:t>
            </a:r>
            <a:br/>
            <a:r>
              <a:t>• USB: Computer Config ➔ Admin Templates ➔ System ➔ Removable Storage Access ➔ Deny all access.</a:t>
            </a:r>
            <a:br/>
            <a:r>
              <a:t>• CMD: User Config ➔ Admin Templates ➔ System ➔ Prevent access to the command prompt ➔ Enabled.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8536" y="4910328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BD5E1"/>
                </a:solidFill>
              </a:defRPr>
            </a:pPr>
            <a: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5193792"/>
            <a:ext cx="3611880" cy="1280160"/>
          </a:xfrm>
          <a:prstGeom prst="roundRect">
            <a:avLst/>
          </a:prstGeom>
          <a:solidFill>
            <a:srgbClr val="0C1A30"/>
          </a:solidFill>
          <a:ln w="254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300" b="1">
                <a:solidFill>
                  <a:srgbClr val="FFB81C"/>
                </a:solidFill>
              </a:defRPr>
            </a:pPr>
            <a:r>
              <a:t>✉️ 3. Como testar</a:t>
            </a:r>
          </a:p>
          <a:p>
            <a:pPr>
              <a:defRPr sz="1100">
                <a:solidFill>
                  <a:srgbClr val="EF4444"/>
                </a:solidFill>
              </a:defRPr>
            </a:pPr>
            <a:r>
              <a:t>🚫 Pop-up: 'Access is denied' / 'The command prompt has been disabled by your administrator.'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097280"/>
            <a:ext cx="3611880" cy="1463040"/>
          </a:xfrm>
          <a:prstGeom prst="roundRect">
            <a:avLst/>
          </a:prstGeom>
          <a:solidFill>
            <a:srgbClr val="0C1A30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👤 1. Precisa ser feito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Fixar wallpaper institucional e garantir acesso total para a equipe de TI (Domain Admins).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9872" y="2578608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BD5E1"/>
                </a:solidFill>
              </a:defRPr>
            </a:pPr>
            <a: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2880360"/>
            <a:ext cx="3611880" cy="2011680"/>
          </a:xfrm>
          <a:prstGeom prst="roundRect">
            <a:avLst/>
          </a:prstGeom>
          <a:solidFill>
            <a:srgbClr val="0C1A30"/>
          </a:solidFill>
          <a:ln w="25400">
            <a:solidFill>
              <a:srgbClr val="00D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00D062"/>
                </a:solidFill>
              </a:defRPr>
            </a:pPr>
            <a:r>
              <a:t>⚙️ 2. Como fazer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gpmc.msc ➔ Group Policy Objects:</a:t>
            </a:r>
            <a:br/>
            <a:r>
              <a:t>• Wallpaper: Right-click em GPO_Seguranca_e_Padronizacao ➔ Edit ➔ User Config ➔ Policies ➔ Admin Templates ➔ Desktop ➔ Desktop ➔ Desktop Wallpaper: \\SRV-DC01\Dados\Publico\wallpaper.jpg</a:t>
            </a:r>
            <a:br/>
            <a:r>
              <a:t>• Exceção TI: Clicar em GPO_Seguranca_e_Padronizacao ➔ Aba Delegation ➔ Advanced ➔ Domain Admins ➔ Desmarcar 'Apply group policy'.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9872" y="4910328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BD5E1"/>
                </a:solidFill>
              </a:defRPr>
            </a:pPr>
            <a: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2" y="5193792"/>
            <a:ext cx="3611880" cy="1280160"/>
          </a:xfrm>
          <a:prstGeom prst="roundRect">
            <a:avLst/>
          </a:prstGeom>
          <a:solidFill>
            <a:srgbClr val="0C1A30"/>
          </a:solidFill>
          <a:ln w="254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300" b="1">
                <a:solidFill>
                  <a:srgbClr val="FFB81C"/>
                </a:solidFill>
              </a:defRPr>
            </a:pPr>
            <a:r>
              <a:t>✉️ 3. Como testar</a:t>
            </a:r>
          </a:p>
          <a:p>
            <a:pPr>
              <a:defRPr sz="1100" b="1">
                <a:solidFill>
                  <a:srgbClr val="38BDF8"/>
                </a:solidFill>
              </a:defRPr>
            </a:pPr>
            <a:r>
              <a:t>CMD/PowerShell: gpresult /r</a:t>
            </a:r>
          </a:p>
          <a:p>
            <a:pPr>
              <a:defRPr sz="1100">
                <a:solidFill>
                  <a:srgbClr val="00D062"/>
                </a:solidFill>
              </a:defRPr>
            </a:pPr>
            <a:r>
              <a:t>✓ GPO aplicada a usuários e ignorada para TI.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77295" cy="594360"/>
          </a:xfrm>
          <a:prstGeom prst="roundRect">
            <a:avLst/>
          </a:prstGeom>
          <a:solidFill>
            <a:srgbClr val="0C1A3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📁 Servidor de Arquivos e Permissões Departamentais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560320" cy="438912"/>
          </a:xfrm>
          <a:prstGeom prst="roundRect">
            <a:avLst/>
          </a:prstGeom>
          <a:solidFill>
            <a:srgbClr val="192841"/>
          </a:solidFill>
          <a:ln w="127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/>
            <a:r>
              <a:rPr sz="1200">
                <a:solidFill>
                  <a:srgbClr val="FFB81C"/>
                </a:solidFill>
              </a:rPr>
              <a:t>Apresentador: </a:t>
            </a:r>
            <a:r>
              <a:rPr sz="1300" b="1">
                <a:solidFill>
                  <a:srgbClr val="FFFFFF"/>
                </a:solidFill>
              </a:rPr>
              <a:t>Mariane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611880" cy="1463040"/>
          </a:xfrm>
          <a:prstGeom prst="roundRect">
            <a:avLst/>
          </a:prstGeom>
          <a:solidFill>
            <a:srgbClr val="0C1A30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👤 1. Precisa ser feito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Criar as 8 pastas departamentais em C:\Dados e compartilhá-las como \\esperancadigital.local\Dados.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78608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BD5E1"/>
                </a:solidFill>
              </a:defRPr>
            </a:pPr>
            <a:r>
              <a:t>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880360"/>
            <a:ext cx="3611880" cy="2011680"/>
          </a:xfrm>
          <a:prstGeom prst="roundRect">
            <a:avLst/>
          </a:prstGeom>
          <a:solidFill>
            <a:srgbClr val="0C1A30"/>
          </a:solidFill>
          <a:ln w="25400">
            <a:solidFill>
              <a:srgbClr val="00D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00D062"/>
                </a:solidFill>
              </a:defRPr>
            </a:pPr>
            <a:r>
              <a:t>⚙️ 2. Como fazer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• Pastas: Criar em C:\Dados (Diretoria, Coordenacao, Secretaria, Biblioteca, Recepcao, Professores, Alunos, Publico).</a:t>
            </a:r>
            <a:br/>
            <a:r>
              <a:t>• Share: Server Manager ➔ File and Storage Services ➔ Shares ➔ New Share (SMB - Quick) ➔ Path: C:\Dados ➔ Share Name: 'Dados'.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10328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BD5E1"/>
                </a:solidFill>
              </a:defRPr>
            </a:pPr>
            <a: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193792"/>
            <a:ext cx="3611880" cy="1280160"/>
          </a:xfrm>
          <a:prstGeom prst="roundRect">
            <a:avLst/>
          </a:prstGeom>
          <a:solidFill>
            <a:srgbClr val="0C1A30"/>
          </a:solidFill>
          <a:ln w="254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300" b="1">
                <a:solidFill>
                  <a:srgbClr val="FFB81C"/>
                </a:solidFill>
              </a:defRPr>
            </a:pPr>
            <a:r>
              <a:t>✉️ 3. Como testar</a:t>
            </a:r>
          </a:p>
          <a:p>
            <a:pPr>
              <a:defRPr sz="1100" b="1">
                <a:solidFill>
                  <a:srgbClr val="38BDF8"/>
                </a:solidFill>
              </a:defRPr>
            </a:pPr>
            <a:r>
              <a:t>CMD/PowerShell: \\esperancadigital.local\Dados</a:t>
            </a:r>
          </a:p>
          <a:p>
            <a:pPr>
              <a:defRPr sz="1100">
                <a:solidFill>
                  <a:srgbClr val="00D062"/>
                </a:solidFill>
              </a:defRPr>
            </a:pPr>
            <a:r>
              <a:t>✓ Todas as 8 pastas visíveis na rede.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1097280"/>
            <a:ext cx="3611880" cy="1463040"/>
          </a:xfrm>
          <a:prstGeom prst="roundRect">
            <a:avLst/>
          </a:prstGeom>
          <a:solidFill>
            <a:srgbClr val="0C1A30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👤 1. Precisa ser feito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Permitir que cada usuário leia, crie e edite arquivos apenas na pasta do seu departamento.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8536" y="2578608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BD5E1"/>
                </a:solidFill>
              </a:defRPr>
            </a:pPr>
            <a: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2880360"/>
            <a:ext cx="3611880" cy="2011680"/>
          </a:xfrm>
          <a:prstGeom prst="roundRect">
            <a:avLst/>
          </a:prstGeom>
          <a:solidFill>
            <a:srgbClr val="0C1A30"/>
          </a:solidFill>
          <a:ln w="25400">
            <a:solidFill>
              <a:srgbClr val="00D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00D062"/>
                </a:solidFill>
              </a:defRPr>
            </a:pPr>
            <a:r>
              <a:t>⚙️ 2. Como fazer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Right-click na pasta (ex: Secretaria) ➔ Properties ➔ Security ➔ Advanced ➔ Disable inheritance ('Convert...') ➔ Remove Users ➔ Add: 'GG_Secretaria' ➔ Permission: Modify.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8536" y="4910328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BD5E1"/>
                </a:solidFill>
              </a:defRPr>
            </a:pPr>
            <a: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5193792"/>
            <a:ext cx="3611880" cy="1280160"/>
          </a:xfrm>
          <a:prstGeom prst="roundRect">
            <a:avLst/>
          </a:prstGeom>
          <a:solidFill>
            <a:srgbClr val="0C1A30"/>
          </a:solidFill>
          <a:ln w="254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300" b="1">
                <a:solidFill>
                  <a:srgbClr val="FFB81C"/>
                </a:solidFill>
              </a:defRPr>
            </a:pPr>
            <a:r>
              <a:t>✉️ 3. Como testar</a:t>
            </a:r>
          </a:p>
          <a:p>
            <a:pPr>
              <a:defRPr sz="1100" b="1">
                <a:solidFill>
                  <a:srgbClr val="38BDF8"/>
                </a:solidFill>
              </a:defRPr>
            </a:pPr>
            <a:r>
              <a:t>CMD/PowerShell: \\esperancadigital.local\Dados\Secretaria</a:t>
            </a:r>
          </a:p>
          <a:p>
            <a:pPr>
              <a:defRPr sz="1100">
                <a:solidFill>
                  <a:srgbClr val="00D062"/>
                </a:solidFill>
              </a:defRPr>
            </a:pPr>
            <a:r>
              <a:t>✓ Acesso liberado para ler, criar e salvar.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097280"/>
            <a:ext cx="3611880" cy="1463040"/>
          </a:xfrm>
          <a:prstGeom prst="roundRect">
            <a:avLst/>
          </a:prstGeom>
          <a:solidFill>
            <a:srgbClr val="0C1A30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👤 1. Precisa ser feito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Bloquear o acesso a pastas de outros setores exibindo o pop-up de Acesso Negado.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9872" y="2578608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BD5E1"/>
                </a:solidFill>
              </a:defRPr>
            </a:pPr>
            <a: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2880360"/>
            <a:ext cx="3611880" cy="2011680"/>
          </a:xfrm>
          <a:prstGeom prst="roundRect">
            <a:avLst/>
          </a:prstGeom>
          <a:solidFill>
            <a:srgbClr val="0C1A30"/>
          </a:solidFill>
          <a:ln w="25400">
            <a:solidFill>
              <a:srgbClr val="00D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00D062"/>
                </a:solidFill>
              </a:defRPr>
            </a:pPr>
            <a:r>
              <a:t>⚙️ 2. Como fazer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Server Manager ➔ File and Storage Services ➔ Shares ➔ Right-click 'Dados' ➔ Properties ➔ Settings ➔ Uncheck 'Enable access-based enumeration'.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9872" y="4910328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BD5E1"/>
                </a:solidFill>
              </a:defRPr>
            </a:pPr>
            <a: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2" y="5193792"/>
            <a:ext cx="3611880" cy="1280160"/>
          </a:xfrm>
          <a:prstGeom prst="roundRect">
            <a:avLst/>
          </a:prstGeom>
          <a:solidFill>
            <a:srgbClr val="0C1A30"/>
          </a:solidFill>
          <a:ln w="254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300" b="1">
                <a:solidFill>
                  <a:srgbClr val="FFB81C"/>
                </a:solidFill>
              </a:defRPr>
            </a:pPr>
            <a:r>
              <a:t>✉️ 3. Como testar</a:t>
            </a:r>
          </a:p>
          <a:p>
            <a:pPr>
              <a:defRPr sz="1100" b="1">
                <a:solidFill>
                  <a:srgbClr val="38BDF8"/>
                </a:solidFill>
              </a:defRPr>
            </a:pPr>
            <a:r>
              <a:t>CMD/PowerShell: \\esperancadigital.local\Dados\Diretoria</a:t>
            </a:r>
          </a:p>
          <a:p>
            <a:pPr>
              <a:defRPr sz="1100">
                <a:solidFill>
                  <a:srgbClr val="EF4444"/>
                </a:solidFill>
              </a:defRPr>
            </a:pPr>
            <a:r>
              <a:t>🚫 Pop-up na tela: 'Network Error: Access is denied.'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77295" cy="594360"/>
          </a:xfrm>
          <a:prstGeom prst="roundRect">
            <a:avLst/>
          </a:prstGeom>
          <a:solidFill>
            <a:srgbClr val="0C1A3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🖨️ Servidor de Impressão e Fila Geral Centralizada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560320" cy="438912"/>
          </a:xfrm>
          <a:prstGeom prst="roundRect">
            <a:avLst/>
          </a:prstGeom>
          <a:solidFill>
            <a:srgbClr val="192841"/>
          </a:solidFill>
          <a:ln w="127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/>
            <a:r>
              <a:rPr sz="1200">
                <a:solidFill>
                  <a:srgbClr val="FFB81C"/>
                </a:solidFill>
              </a:rPr>
              <a:t>Apresentador: </a:t>
            </a:r>
            <a:r>
              <a:rPr sz="1300" b="1">
                <a:solidFill>
                  <a:srgbClr val="FFFFFF"/>
                </a:solidFill>
              </a:rPr>
              <a:t>Edmar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611880" cy="1463040"/>
          </a:xfrm>
          <a:prstGeom prst="roundRect">
            <a:avLst/>
          </a:prstGeom>
          <a:solidFill>
            <a:srgbClr val="0C1A30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👤 1. Precisa ser feito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Habilitar o serviço central de impressão no Windows Server 2022.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78608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BD5E1"/>
                </a:solidFill>
              </a:defRPr>
            </a:pPr>
            <a:r>
              <a:t>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880360"/>
            <a:ext cx="3611880" cy="2011680"/>
          </a:xfrm>
          <a:prstGeom prst="roundRect">
            <a:avLst/>
          </a:prstGeom>
          <a:solidFill>
            <a:srgbClr val="0C1A30"/>
          </a:solidFill>
          <a:ln w="25400">
            <a:solidFill>
              <a:srgbClr val="00D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00D062"/>
                </a:solidFill>
              </a:defRPr>
            </a:pPr>
            <a:r>
              <a:t>⚙️ 2. Como fazer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Server Manager ➔ Manage ➔ Add Roles and Features ➔ Server Roles ➔ Print and Document Services ➔ Role Services: Print Server ➔ Install.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10328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BD5E1"/>
                </a:solidFill>
              </a:defRPr>
            </a:pPr>
            <a: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193792"/>
            <a:ext cx="3611880" cy="1280160"/>
          </a:xfrm>
          <a:prstGeom prst="roundRect">
            <a:avLst/>
          </a:prstGeom>
          <a:solidFill>
            <a:srgbClr val="0C1A30"/>
          </a:solidFill>
          <a:ln w="254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300" b="1">
                <a:solidFill>
                  <a:srgbClr val="FFB81C"/>
                </a:solidFill>
              </a:defRPr>
            </a:pPr>
            <a:r>
              <a:t>✉️ 3. Como testar</a:t>
            </a:r>
          </a:p>
          <a:p>
            <a:pPr>
              <a:defRPr sz="1100" b="1">
                <a:solidFill>
                  <a:srgbClr val="38BDF8"/>
                </a:solidFill>
              </a:defRPr>
            </a:pPr>
            <a:r>
              <a:t>CMD/PowerShell: printmanagement.msc</a:t>
            </a:r>
          </a:p>
          <a:p>
            <a:pPr>
              <a:defRPr sz="1100">
                <a:solidFill>
                  <a:srgbClr val="00D062"/>
                </a:solidFill>
              </a:defRPr>
            </a:pPr>
            <a:r>
              <a:t>✓ Print Servers ➔ SRV-DC01 ativo e operacional.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1097280"/>
            <a:ext cx="3611880" cy="1463040"/>
          </a:xfrm>
          <a:prstGeom prst="roundRect">
            <a:avLst/>
          </a:prstGeom>
          <a:solidFill>
            <a:srgbClr val="0C1A30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👤 1. Precisa ser feito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Criar a fila corporativa IMP_Geral no IP 192.168.10.20 publicada no 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8536" y="2578608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BD5E1"/>
                </a:solidFill>
              </a:defRPr>
            </a:pPr>
            <a: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2880360"/>
            <a:ext cx="3611880" cy="2011680"/>
          </a:xfrm>
          <a:prstGeom prst="roundRect">
            <a:avLst/>
          </a:prstGeom>
          <a:solidFill>
            <a:srgbClr val="0C1A30"/>
          </a:solidFill>
          <a:ln w="25400">
            <a:solidFill>
              <a:srgbClr val="00D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00D062"/>
                </a:solidFill>
              </a:defRPr>
            </a:pPr>
            <a:r>
              <a:t>⚙️ 2. Como fazer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printmanagement.msc ➔ Print Servers ➔ SRV-DC01 ➔ Right-click 'Printers' ➔ Add Printer... ➔ TCP/IP (192.168.10.20) ➔ Nome: IMP_Geral ➔ Marcar 'Share this printer' e 'List in the directory'.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8536" y="4910328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BD5E1"/>
                </a:solidFill>
              </a:defRPr>
            </a:pPr>
            <a: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5193792"/>
            <a:ext cx="3611880" cy="1280160"/>
          </a:xfrm>
          <a:prstGeom prst="roundRect">
            <a:avLst/>
          </a:prstGeom>
          <a:solidFill>
            <a:srgbClr val="0C1A30"/>
          </a:solidFill>
          <a:ln w="254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300" b="1">
                <a:solidFill>
                  <a:srgbClr val="FFB81C"/>
                </a:solidFill>
              </a:defRPr>
            </a:pPr>
            <a:r>
              <a:t>✉️ 3. Como testar</a:t>
            </a:r>
          </a:p>
          <a:p>
            <a:pPr>
              <a:defRPr sz="1100" b="1">
                <a:solidFill>
                  <a:srgbClr val="38BDF8"/>
                </a:solidFill>
              </a:defRPr>
            </a:pPr>
            <a:r>
              <a:t>CMD/PowerShell: \\SRV-DC01\IMP_Geral</a:t>
            </a:r>
          </a:p>
          <a:p>
            <a:pPr>
              <a:defRPr sz="1100">
                <a:solidFill>
                  <a:srgbClr val="00D062"/>
                </a:solidFill>
              </a:defRPr>
            </a:pPr>
            <a:r>
              <a:t>✓ Fila instalada e pronta para todos os setores.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097280"/>
            <a:ext cx="3611880" cy="1463040"/>
          </a:xfrm>
          <a:prstGeom prst="roundRect">
            <a:avLst/>
          </a:prstGeom>
          <a:solidFill>
            <a:srgbClr val="0C1A30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👤 1. Precisa ser feito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Corrigir erro de conexão remota 0x8007011b para permitir impressão direta das estações.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9872" y="2578608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BD5E1"/>
                </a:solidFill>
              </a:defRPr>
            </a:pPr>
            <a: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2880360"/>
            <a:ext cx="3611880" cy="2011680"/>
          </a:xfrm>
          <a:prstGeom prst="roundRect">
            <a:avLst/>
          </a:prstGeom>
          <a:solidFill>
            <a:srgbClr val="0C1A30"/>
          </a:solidFill>
          <a:ln w="25400">
            <a:solidFill>
              <a:srgbClr val="00D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00D062"/>
                </a:solidFill>
              </a:defRPr>
            </a:pPr>
            <a:r>
              <a:t>⚙️ 2. Como fazer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PowerShell (Admin): New-ItemProperty -Path 'HKLM:\System\CurrentControlSet\Control\Print' -Name 'RpcAuthnLevelPrivacyEnabled' -Value 0 -PropertyType DWORD -Force; Restart-Service Spooler.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9872" y="4910328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BD5E1"/>
                </a:solidFill>
              </a:defRPr>
            </a:pPr>
            <a: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2" y="5193792"/>
            <a:ext cx="3611880" cy="1280160"/>
          </a:xfrm>
          <a:prstGeom prst="roundRect">
            <a:avLst/>
          </a:prstGeom>
          <a:solidFill>
            <a:srgbClr val="0C1A30"/>
          </a:solidFill>
          <a:ln w="254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300" b="1">
                <a:solidFill>
                  <a:srgbClr val="FFB81C"/>
                </a:solidFill>
              </a:defRPr>
            </a:pPr>
            <a:r>
              <a:t>✉️ 3. Como testar</a:t>
            </a:r>
          </a:p>
          <a:p>
            <a:pPr>
              <a:defRPr sz="1100" b="1">
                <a:solidFill>
                  <a:srgbClr val="38BDF8"/>
                </a:solidFill>
              </a:defRPr>
            </a:pPr>
            <a:r>
              <a:t>CMD/PowerShell: IMP_Geral ➔ Print Test Page</a:t>
            </a:r>
          </a:p>
          <a:p>
            <a:pPr>
              <a:defRPr sz="1100">
                <a:solidFill>
                  <a:srgbClr val="00D062"/>
                </a:solidFill>
              </a:defRPr>
            </a:pPr>
            <a:r>
              <a:t>✓ Página de teste impressa sem travar.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77295" cy="594360"/>
          </a:xfrm>
          <a:prstGeom prst="roundRect">
            <a:avLst/>
          </a:prstGeom>
          <a:solidFill>
            <a:srgbClr val="0C1A3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🛡️ Windows Defender Firewall &amp; Conectividade de Rede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560320" cy="438912"/>
          </a:xfrm>
          <a:prstGeom prst="roundRect">
            <a:avLst/>
          </a:prstGeom>
          <a:solidFill>
            <a:srgbClr val="192841"/>
          </a:solidFill>
          <a:ln w="127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/>
            <a:r>
              <a:rPr sz="1200">
                <a:solidFill>
                  <a:srgbClr val="FFB81C"/>
                </a:solidFill>
              </a:rPr>
              <a:t>Apresentador: </a:t>
            </a:r>
            <a:r>
              <a:rPr sz="1300" b="1">
                <a:solidFill>
                  <a:srgbClr val="FFFFFF"/>
                </a:solidFill>
              </a:rPr>
              <a:t>Adler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611880" cy="1463040"/>
          </a:xfrm>
          <a:prstGeom prst="roundRect">
            <a:avLst/>
          </a:prstGeom>
          <a:solidFill>
            <a:srgbClr val="0C1A30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👤 1. Precisa ser feito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Manter o Firewall ativo nos 3 perfis (Domain, Private e Public) para segurança da rede.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78608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BD5E1"/>
                </a:solidFill>
              </a:defRPr>
            </a:pPr>
            <a:r>
              <a:t>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880360"/>
            <a:ext cx="3611880" cy="2011680"/>
          </a:xfrm>
          <a:prstGeom prst="roundRect">
            <a:avLst/>
          </a:prstGeom>
          <a:solidFill>
            <a:srgbClr val="0C1A30"/>
          </a:solidFill>
          <a:ln w="25400">
            <a:solidFill>
              <a:srgbClr val="00D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00D062"/>
                </a:solidFill>
              </a:defRPr>
            </a:pPr>
            <a:r>
              <a:t>⚙️ 2. Como fazer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wf.msc ➔ Windows Defender Firewall Properties ➔ Abas 'Domain', 'Private' e 'Public Profile' ➔ Firewall state: 'On (recommended)'.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10328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BD5E1"/>
                </a:solidFill>
              </a:defRPr>
            </a:pPr>
            <a: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193792"/>
            <a:ext cx="3611880" cy="1280160"/>
          </a:xfrm>
          <a:prstGeom prst="roundRect">
            <a:avLst/>
          </a:prstGeom>
          <a:solidFill>
            <a:srgbClr val="0C1A30"/>
          </a:solidFill>
          <a:ln w="254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300" b="1">
                <a:solidFill>
                  <a:srgbClr val="FFB81C"/>
                </a:solidFill>
              </a:defRPr>
            </a:pPr>
            <a:r>
              <a:t>✉️ 3. Como testar</a:t>
            </a:r>
          </a:p>
          <a:p>
            <a:pPr>
              <a:defRPr sz="1100" b="1">
                <a:solidFill>
                  <a:srgbClr val="38BDF8"/>
                </a:solidFill>
              </a:defRPr>
            </a:pPr>
            <a:r>
              <a:t>CMD/PowerShell: wf.msc</a:t>
            </a:r>
          </a:p>
          <a:p>
            <a:pPr>
              <a:defRPr sz="1100">
                <a:solidFill>
                  <a:srgbClr val="00D062"/>
                </a:solidFill>
              </a:defRPr>
            </a:pPr>
            <a:r>
              <a:t>✓ Status verde ativo em Domain, Private e Public.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1097280"/>
            <a:ext cx="3611880" cy="1463040"/>
          </a:xfrm>
          <a:prstGeom prst="roundRect">
            <a:avLst/>
          </a:prstGeom>
          <a:solidFill>
            <a:srgbClr val="0C1A30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👤 1. Precisa ser feito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Liberar o tráfego para compartilhamento SMB (Porta 445) e resposta a testes de Ping.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8536" y="2578608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BD5E1"/>
                </a:solidFill>
              </a:defRPr>
            </a:pPr>
            <a: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2880360"/>
            <a:ext cx="3611880" cy="2011680"/>
          </a:xfrm>
          <a:prstGeom prst="roundRect">
            <a:avLst/>
          </a:prstGeom>
          <a:solidFill>
            <a:srgbClr val="0C1A30"/>
          </a:solidFill>
          <a:ln w="25400">
            <a:solidFill>
              <a:srgbClr val="00D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00D062"/>
                </a:solidFill>
              </a:defRPr>
            </a:pPr>
            <a:r>
              <a:t>⚙️ 2. Como fazer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wf.msc ➔ Inbound Rules ➔ Habilitar (Enable Rule):</a:t>
            </a:r>
            <a:br/>
            <a:r>
              <a:t>• 'File and Printer Sharing (SMB-In)'</a:t>
            </a:r>
            <a:br/>
            <a:r>
              <a:t>• 'File and Printer Sharing (Echo Request - ICMPv4-In)'.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8536" y="4910328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BD5E1"/>
                </a:solidFill>
              </a:defRPr>
            </a:pPr>
            <a: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5193792"/>
            <a:ext cx="3611880" cy="1280160"/>
          </a:xfrm>
          <a:prstGeom prst="roundRect">
            <a:avLst/>
          </a:prstGeom>
          <a:solidFill>
            <a:srgbClr val="0C1A30"/>
          </a:solidFill>
          <a:ln w="254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300" b="1">
                <a:solidFill>
                  <a:srgbClr val="FFB81C"/>
                </a:solidFill>
              </a:defRPr>
            </a:pPr>
            <a:r>
              <a:t>✉️ 3. Como testar</a:t>
            </a:r>
          </a:p>
          <a:p>
            <a:pPr>
              <a:defRPr sz="1100" b="1">
                <a:solidFill>
                  <a:srgbClr val="38BDF8"/>
                </a:solidFill>
              </a:defRPr>
            </a:pPr>
            <a:r>
              <a:t>CMD/PowerShell: ping 192.168.10.2</a:t>
            </a:r>
          </a:p>
          <a:p>
            <a:pPr>
              <a:defRPr sz="1100">
                <a:solidFill>
                  <a:srgbClr val="00D062"/>
                </a:solidFill>
              </a:defRPr>
            </a:pPr>
            <a:r>
              <a:t>✓ 0% de perda com latência &lt;1ms.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097280"/>
            <a:ext cx="3611880" cy="1463040"/>
          </a:xfrm>
          <a:prstGeom prst="roundRect">
            <a:avLst/>
          </a:prstGeom>
          <a:solidFill>
            <a:srgbClr val="0C1A30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👤 1. Precisa ser feito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Criar a resolução de DNS Reverso para resolver o IP 192.168.10.2 e evitar lentidão no logon.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9872" y="2578608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BD5E1"/>
                </a:solidFill>
              </a:defRPr>
            </a:pPr>
            <a: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2880360"/>
            <a:ext cx="3611880" cy="2011680"/>
          </a:xfrm>
          <a:prstGeom prst="roundRect">
            <a:avLst/>
          </a:prstGeom>
          <a:solidFill>
            <a:srgbClr val="0C1A30"/>
          </a:solidFill>
          <a:ln w="25400">
            <a:solidFill>
              <a:srgbClr val="00D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00D062"/>
                </a:solidFill>
              </a:defRPr>
            </a:pPr>
            <a:r>
              <a:t>⚙️ 2. Como fazer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dnsmgmt.msc ➔ SRV-DC01 ➔ Reverse Lookup Zones ➔ New Zone... ➔ Primary (IPv4: 192.168.10) ➔ New Pointer (PTR): IP .2 ➔ SRV-DC01.esperancadigital.local.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9872" y="4910328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BD5E1"/>
                </a:solidFill>
              </a:defRPr>
            </a:pPr>
            <a: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2" y="5193792"/>
            <a:ext cx="3611880" cy="1280160"/>
          </a:xfrm>
          <a:prstGeom prst="roundRect">
            <a:avLst/>
          </a:prstGeom>
          <a:solidFill>
            <a:srgbClr val="0C1A30"/>
          </a:solidFill>
          <a:ln w="254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300" b="1">
                <a:solidFill>
                  <a:srgbClr val="FFB81C"/>
                </a:solidFill>
              </a:defRPr>
            </a:pPr>
            <a:r>
              <a:t>✉️ 3. Como testar</a:t>
            </a:r>
          </a:p>
          <a:p>
            <a:pPr>
              <a:defRPr sz="1100" b="1">
                <a:solidFill>
                  <a:srgbClr val="38BDF8"/>
                </a:solidFill>
              </a:defRPr>
            </a:pPr>
            <a:r>
              <a:t>CMD/PowerShell: nslookup 192.168.10.2</a:t>
            </a:r>
          </a:p>
          <a:p>
            <a:pPr>
              <a:defRPr sz="1100">
                <a:solidFill>
                  <a:srgbClr val="00D062"/>
                </a:solidFill>
              </a:defRPr>
            </a:pPr>
            <a:r>
              <a:t>✓ Retorna: SRV-DC01.esperancadigital.local.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77295" cy="594360"/>
          </a:xfrm>
          <a:prstGeom prst="roundRect">
            <a:avLst/>
          </a:prstGeom>
          <a:solidFill>
            <a:srgbClr val="0C1A3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🏛️ CETAM • Centro de Educação Tecnológica do Amazonas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560320" cy="438912"/>
          </a:xfrm>
          <a:prstGeom prst="roundRect">
            <a:avLst/>
          </a:prstGeom>
          <a:solidFill>
            <a:srgbClr val="192841"/>
          </a:solidFill>
          <a:ln w="127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/>
            <a:r>
              <a:rPr sz="1200">
                <a:solidFill>
                  <a:srgbClr val="FFB81C"/>
                </a:solidFill>
              </a:rPr>
              <a:t>Apresentador: </a:t>
            </a:r>
            <a:r>
              <a:rPr sz="1300" b="1">
                <a:solidFill>
                  <a:srgbClr val="FFFFFF"/>
                </a:solidFill>
              </a:rPr>
              <a:t>Elizandra &amp; Equipe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4484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/>
            </a:pPr>
            <a:r>
              <a:t>🏛️</a:t>
            </a:r>
          </a:p>
          <a:p>
            <a:pPr algn="ctr"/>
            <a:r>
              <a:rPr sz="3800" b="1">
                <a:solidFill>
                  <a:srgbClr val="FFFFFF"/>
                </a:solidFill>
              </a:rPr>
              <a:t>Muito Obrigado pela </a:t>
            </a:r>
            <a:r>
              <a:rPr sz="3800" b="1">
                <a:solidFill>
                  <a:srgbClr val="00D062"/>
                </a:solidFill>
              </a:rPr>
              <a:t>Atenção!
</a:t>
            </a:r>
          </a:p>
          <a:p>
            <a:pPr algn="ctr">
              <a:defRPr sz="1800">
                <a:solidFill>
                  <a:srgbClr val="CBD5E1"/>
                </a:solidFill>
              </a:defRPr>
            </a:pPr>
            <a:r>
              <a:t>Administração, Segurança e Serviços Corporativos no Windows Server 2022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CBD5E1"/>
                </a:solidFill>
              </a:defRPr>
            </a:pPr>
            <a:r>
              <a:t>📚 Referências &amp; Suporte: Microsoft Learn (GPMC) • Microsoft TechNet (SMB/NTFS) • Microsoft KB5005652 (RPC) • Roteiro Técnico CETAM • Google Gemini 3.7 &amp; Antigravity 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